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FBBDAB-4E17-416C-8696-C8892967EC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0E0E8E-EFDF-4AAB-A324-80FDD49698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7DB03-EBA8-4F24-BFCA-77A353A9ED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1C5478-8685-458B-93FF-B1FF0B7DA3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DE4270-2B21-4C57-90AE-7F3C9BCE64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6939B-3554-423A-8DFB-94D5978922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D65AB5-87EC-491D-86F9-39C3AD4332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A6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360"/>
            <a:ext cx="319680" cy="514332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823960" y="360"/>
            <a:ext cx="319680" cy="514332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320040" y="360"/>
            <a:ext cx="8503560" cy="5436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97280" y="639720"/>
            <a:ext cx="6949080" cy="384012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4206240" y="86832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4"/>
          <p:cNvSpPr/>
          <p:nvPr/>
        </p:nvSpPr>
        <p:spPr>
          <a:xfrm>
            <a:off x="1371600" y="169128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9F4EF"/>
                </a:solidFill>
                <a:effectLst/>
                <a:uFillTx/>
                <a:latin typeface="Georgia"/>
                <a:ea typeface="Georgia"/>
              </a:rPr>
              <a:t>Exegesis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371600" y="251424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A Collaborative </a:t>
            </a:r>
            <a:r>
              <a:rPr lang="en-US" sz="16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Annotation &amp; </a:t>
            </a:r>
            <a:r>
              <a:rPr lang="en-US" sz="16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Project </a:t>
            </a:r>
            <a:r>
              <a:rPr lang="en-US" sz="16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Management </a:t>
            </a:r>
            <a:r>
              <a:rPr lang="en-US" sz="16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Platform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3200400" y="3090240"/>
            <a:ext cx="2742840" cy="3636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371600" y="32457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Tanmay Sarda </a:t>
            </a:r>
            <a:r>
              <a:rPr lang="en-US" sz="12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(202301131)             </a:t>
            </a:r>
            <a:r>
              <a:rPr lang="en-US" sz="12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         Hemal </a:t>
            </a:r>
            <a:r>
              <a:rPr lang="en-US" sz="12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Chavda </a:t>
            </a:r>
            <a:r>
              <a:rPr lang="en-US" sz="12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(202301451)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360"/>
            <a:ext cx="164160" cy="514332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11480" y="273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Platfor</a:t>
            </a: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m </a:t>
            </a: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Overvie</a:t>
            </a: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11480" y="91404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Exegesis is a web-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based platform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that allows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collaborative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literary analysis,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main features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being combining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document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annotation, project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management, and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classroom-like </a:t>
            </a:r>
            <a:r>
              <a:rPr lang="en-US" sz="13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features.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5669280" y="776880"/>
            <a:ext cx="310860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5669280" y="776880"/>
            <a:ext cx="91080" cy="11426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5870520" y="1096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6400800" y="94140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Annotate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00800" y="12798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Highlight &amp; label text </a:t>
            </a: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passages in PDF or </a:t>
            </a: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plain-text documents.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5669280" y="2148480"/>
            <a:ext cx="310860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669280" y="2148480"/>
            <a:ext cx="91080" cy="11426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5870520" y="24685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9"/>
          <p:cNvSpPr/>
          <p:nvPr/>
        </p:nvSpPr>
        <p:spPr>
          <a:xfrm>
            <a:off x="6400800" y="231300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Collaborate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6400800" y="26514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Shared workspaces with </a:t>
            </a: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differing controlled acess.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5669280" y="3520080"/>
            <a:ext cx="310860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5669280" y="3520080"/>
            <a:ext cx="91080" cy="11426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5870520" y="38401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3"/>
          <p:cNvSpPr/>
          <p:nvPr/>
        </p:nvSpPr>
        <p:spPr>
          <a:xfrm>
            <a:off x="6400800" y="368460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Assess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6400800" y="40230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Assignments, submissions, announcements in the same place.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411480" y="45259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B8843F"/>
                </a:solidFill>
                <a:effectLst/>
                <a:uFillTx/>
                <a:latin typeface="Calibri"/>
                <a:ea typeface="Calibri"/>
              </a:rPr>
              <a:t>Bridging close </a:t>
            </a:r>
            <a:r>
              <a:rPr lang="en-US" sz="1100" b="0" i="1" u="none" strike="noStrike">
                <a:solidFill>
                  <a:srgbClr val="B8843F"/>
                </a:solidFill>
                <a:effectLst/>
                <a:uFillTx/>
                <a:latin typeface="Calibri"/>
                <a:ea typeface="Calibri"/>
              </a:rPr>
              <a:t>reading and digital </a:t>
            </a:r>
            <a:r>
              <a:rPr lang="en-US" sz="1100" b="0" i="1" u="none" strike="noStrike">
                <a:solidFill>
                  <a:srgbClr val="B8843F"/>
                </a:solidFill>
                <a:effectLst/>
                <a:uFillTx/>
                <a:latin typeface="Calibri"/>
                <a:ea typeface="Calibri"/>
              </a:rPr>
              <a:t>collaboration — for </a:t>
            </a:r>
            <a:r>
              <a:rPr lang="en-US" sz="1100" b="0" i="1" u="none" strike="noStrike">
                <a:solidFill>
                  <a:srgbClr val="B8843F"/>
                </a:solidFill>
                <a:effectLst/>
                <a:uFillTx/>
                <a:latin typeface="Calibri"/>
                <a:ea typeface="Calibri"/>
              </a:rPr>
              <a:t>classrooms &amp; </a:t>
            </a:r>
            <a:r>
              <a:rPr lang="en-US" sz="1100" b="0" i="1" u="none" strike="noStrike">
                <a:solidFill>
                  <a:srgbClr val="B8843F"/>
                </a:solidFill>
                <a:effectLst/>
                <a:uFillTx/>
                <a:latin typeface="Calibri"/>
                <a:ea typeface="Calibri"/>
              </a:rPr>
              <a:t>research groups.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360"/>
            <a:ext cx="164160" cy="514332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11480" y="273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App </a:t>
            </a: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Sitemap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320040" y="914040"/>
            <a:ext cx="2011320" cy="3794400"/>
          </a:xfrm>
          <a:prstGeom prst="rect">
            <a:avLst/>
          </a:prstGeom>
          <a:solidFill>
            <a:srgbClr val="FAF6F0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320040" y="914040"/>
            <a:ext cx="2011320" cy="1094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1097280" y="1096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4"/>
          <p:cNvSpPr/>
          <p:nvPr/>
        </p:nvSpPr>
        <p:spPr>
          <a:xfrm>
            <a:off x="411480" y="16182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Auth &amp; Profile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457200" y="21027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521280" y="21027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Landing Page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57200" y="271548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521280" y="271548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Login / Signup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57200" y="332820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521280" y="33282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Password Recovery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457200" y="39405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521280" y="39405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Profile &amp; Settings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2514600" y="914040"/>
            <a:ext cx="2011320" cy="3794400"/>
          </a:xfrm>
          <a:prstGeom prst="rect">
            <a:avLst/>
          </a:prstGeom>
          <a:solidFill>
            <a:srgbClr val="FAF6F0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2514600" y="914040"/>
            <a:ext cx="2011320" cy="1094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1" descr="preencoded.png"/>
          <p:cNvPicPr/>
          <p:nvPr/>
        </p:nvPicPr>
        <p:blipFill>
          <a:blip r:embed="rId2"/>
          <a:stretch/>
        </p:blipFill>
        <p:spPr>
          <a:xfrm>
            <a:off x="3291840" y="1096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15"/>
          <p:cNvSpPr/>
          <p:nvPr/>
        </p:nvSpPr>
        <p:spPr>
          <a:xfrm>
            <a:off x="2606040" y="16182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Project Workspace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2651760" y="21027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2715840" y="21027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Project Dashboard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2651760" y="271548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2715840" y="271548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Create/Delete 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2651760" y="332820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2715840" y="33282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Member Roles &amp; Perms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2651760" y="39405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2715840" y="39405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Announcements &amp; </a:t>
            </a: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Replies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4709160" y="914040"/>
            <a:ext cx="2011320" cy="3794400"/>
          </a:xfrm>
          <a:prstGeom prst="rect">
            <a:avLst/>
          </a:prstGeom>
          <a:solidFill>
            <a:srgbClr val="FAF6F0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4709160" y="914040"/>
            <a:ext cx="2011320" cy="1094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2" descr="preencoded.png"/>
          <p:cNvPicPr/>
          <p:nvPr/>
        </p:nvPicPr>
        <p:blipFill>
          <a:blip r:embed="rId3"/>
          <a:stretch/>
        </p:blipFill>
        <p:spPr>
          <a:xfrm>
            <a:off x="5486400" y="1096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6"/>
          <p:cNvSpPr/>
          <p:nvPr/>
        </p:nvSpPr>
        <p:spPr>
          <a:xfrm>
            <a:off x="4800600" y="16182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Document &amp; </a:t>
            </a:r>
            <a:r>
              <a:rPr lang="en-US" sz="11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Annotation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4846320" y="21027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4910400" y="21027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Text &amp; PDF Viewer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9"/>
          <p:cNvSpPr/>
          <p:nvPr/>
        </p:nvSpPr>
        <p:spPr>
          <a:xfrm>
            <a:off x="4846320" y="271548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4910400" y="271548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Custom Labels &amp; Colors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1"/>
          <p:cNvSpPr/>
          <p:nvPr/>
        </p:nvSpPr>
        <p:spPr>
          <a:xfrm>
            <a:off x="4846320" y="332820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2"/>
          <p:cNvSpPr/>
          <p:nvPr/>
        </p:nvSpPr>
        <p:spPr>
          <a:xfrm>
            <a:off x="4910400" y="33282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Highlight Annotations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3"/>
          <p:cNvSpPr/>
          <p:nvPr/>
        </p:nvSpPr>
        <p:spPr>
          <a:xfrm>
            <a:off x="4846320" y="39405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4910400" y="39405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Threaded Comments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5"/>
          <p:cNvSpPr/>
          <p:nvPr/>
        </p:nvSpPr>
        <p:spPr>
          <a:xfrm>
            <a:off x="6903720" y="914040"/>
            <a:ext cx="2011320" cy="3794400"/>
          </a:xfrm>
          <a:prstGeom prst="rect">
            <a:avLst/>
          </a:prstGeom>
          <a:solidFill>
            <a:srgbClr val="FAF6F0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6"/>
          <p:cNvSpPr/>
          <p:nvPr/>
        </p:nvSpPr>
        <p:spPr>
          <a:xfrm>
            <a:off x="6903720" y="914040"/>
            <a:ext cx="2011320" cy="10944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3" descr="preencoded.png"/>
          <p:cNvPicPr/>
          <p:nvPr/>
        </p:nvPicPr>
        <p:blipFill>
          <a:blip r:embed="rId4"/>
          <a:stretch/>
        </p:blipFill>
        <p:spPr>
          <a:xfrm>
            <a:off x="7680960" y="1096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37"/>
          <p:cNvSpPr/>
          <p:nvPr/>
        </p:nvSpPr>
        <p:spPr>
          <a:xfrm>
            <a:off x="6995160" y="16182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Assignments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8"/>
          <p:cNvSpPr/>
          <p:nvPr/>
        </p:nvSpPr>
        <p:spPr>
          <a:xfrm>
            <a:off x="7040880" y="21027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7104960" y="21027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Issue Assignments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0"/>
          <p:cNvSpPr/>
          <p:nvPr/>
        </p:nvSpPr>
        <p:spPr>
          <a:xfrm>
            <a:off x="7040880" y="271548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7104960" y="271548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Submission Tracking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2"/>
          <p:cNvSpPr/>
          <p:nvPr/>
        </p:nvSpPr>
        <p:spPr>
          <a:xfrm>
            <a:off x="7040880" y="332820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3"/>
          <p:cNvSpPr/>
          <p:nvPr/>
        </p:nvSpPr>
        <p:spPr>
          <a:xfrm>
            <a:off x="7104960" y="33282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Pending to Completed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4"/>
          <p:cNvSpPr/>
          <p:nvPr/>
        </p:nvSpPr>
        <p:spPr>
          <a:xfrm>
            <a:off x="7040880" y="3940560"/>
            <a:ext cx="17370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5"/>
          <p:cNvSpPr/>
          <p:nvPr/>
        </p:nvSpPr>
        <p:spPr>
          <a:xfrm>
            <a:off x="7104960" y="394056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Grading &amp; Feedback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360"/>
            <a:ext cx="164160" cy="514332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11480" y="273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General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822960" y="1307160"/>
            <a:ext cx="36360" cy="776880"/>
          </a:xfrm>
          <a:prstGeom prst="rect">
            <a:avLst/>
          </a:prstGeom>
          <a:solidFill>
            <a:srgbClr val="D9BC8A"/>
          </a:solidFill>
          <a:ln w="12700">
            <a:solidFill>
              <a:srgbClr val="D9BC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594360" y="1005480"/>
            <a:ext cx="475200" cy="475200"/>
          </a:xfrm>
          <a:prstGeom prst="ellipse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594360" y="1005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280160" y="959760"/>
            <a:ext cx="749772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1280160" y="959760"/>
            <a:ext cx="91080" cy="80424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1508760" y="102384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Setup &amp; Onboarding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1508760" y="134388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Register an account, create a project, and share invite links or invite collaborators.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822960" y="2294640"/>
            <a:ext cx="36360" cy="776880"/>
          </a:xfrm>
          <a:prstGeom prst="rect">
            <a:avLst/>
          </a:prstGeom>
          <a:solidFill>
            <a:srgbClr val="D9BC8A"/>
          </a:solidFill>
          <a:ln w="12700">
            <a:solidFill>
              <a:srgbClr val="D9BC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94360" y="1992960"/>
            <a:ext cx="475200" cy="475200"/>
          </a:xfrm>
          <a:prstGeom prst="ellipse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594360" y="19929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1280160" y="1947240"/>
            <a:ext cx="749772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1280160" y="1947240"/>
            <a:ext cx="91080" cy="80424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1508760" y="201132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Content &amp; Curation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1508760" y="2331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Upload PDF or text documents and define annotation labels (e.g., Metaphor, Symbolism).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822960" y="3282480"/>
            <a:ext cx="36360" cy="776880"/>
          </a:xfrm>
          <a:prstGeom prst="rect">
            <a:avLst/>
          </a:prstGeom>
          <a:solidFill>
            <a:srgbClr val="D9BC8A"/>
          </a:solidFill>
          <a:ln w="12700">
            <a:solidFill>
              <a:srgbClr val="D9BC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594360" y="2980440"/>
            <a:ext cx="475200" cy="475200"/>
          </a:xfrm>
          <a:prstGeom prst="ellipse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594360" y="29804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1280160" y="2934720"/>
            <a:ext cx="749772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0"/>
          <p:cNvSpPr/>
          <p:nvPr/>
        </p:nvSpPr>
        <p:spPr>
          <a:xfrm>
            <a:off x="1280160" y="2934720"/>
            <a:ext cx="91080" cy="80424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1508760" y="299880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Collaborative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1508760" y="331884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Members annotate passages, attach labels, and hold threaded discussions on annotations within the text.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3"/>
          <p:cNvSpPr/>
          <p:nvPr/>
        </p:nvSpPr>
        <p:spPr>
          <a:xfrm>
            <a:off x="594360" y="3968280"/>
            <a:ext cx="475200" cy="475200"/>
          </a:xfrm>
          <a:prstGeom prst="ellipse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594360" y="39682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1280160" y="3922560"/>
            <a:ext cx="7497720" cy="80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1280160" y="3922560"/>
            <a:ext cx="91080" cy="80424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1508760" y="398628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Assessment &amp; Tracking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1508760" y="430632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C2010"/>
                </a:solidFill>
                <a:effectLst/>
                <a:uFillTx/>
                <a:latin typeface="Calibri"/>
                <a:ea typeface="Calibri"/>
              </a:rPr>
              <a:t>Owners issue assignments; members submit work; status updates Pending --&gt; Submitted --&gt; Completed.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360"/>
            <a:ext cx="164160" cy="5143320"/>
          </a:xfrm>
          <a:prstGeom prst="rect">
            <a:avLst/>
          </a:prstGeom>
          <a:solidFill>
            <a:srgbClr val="B8843F"/>
          </a:solidFill>
          <a:ln w="12700">
            <a:solidFill>
              <a:srgbClr val="B884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11480" y="16416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A6030"/>
                </a:solidFill>
                <a:effectLst/>
                <a:uFillTx/>
                <a:latin typeface="Georgia"/>
                <a:ea typeface="Georgia"/>
              </a:rPr>
              <a:t>Entity–Relationship Diagram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11480" y="5115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82"/>
          <p:cNvSpPr/>
          <p:nvPr/>
        </p:nvSpPr>
        <p:spPr>
          <a:xfrm>
            <a:off x="5852160" y="4864320"/>
            <a:ext cx="301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PK = Primary Key  |  FK = Foreign Key (italic)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685800" y="511200"/>
            <a:ext cx="7315200" cy="406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A6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360"/>
            <a:ext cx="319680" cy="514332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8823960" y="360"/>
            <a:ext cx="319680" cy="514332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320040" y="5069880"/>
            <a:ext cx="8503560" cy="7272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1097280" y="731160"/>
            <a:ext cx="6949080" cy="3657240"/>
          </a:xfrm>
          <a:prstGeom prst="rect">
            <a:avLst/>
          </a:prstGeom>
          <a:solidFill>
            <a:srgbClr val="7A5228"/>
          </a:solidFill>
          <a:ln w="12700">
            <a:solidFill>
              <a:srgbClr val="7A52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4206240" y="95976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4"/>
          <p:cNvSpPr/>
          <p:nvPr/>
        </p:nvSpPr>
        <p:spPr>
          <a:xfrm>
            <a:off x="1371600" y="182844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9F4EF"/>
                </a:solidFill>
                <a:effectLst/>
                <a:uFillTx/>
                <a:latin typeface="Georgia"/>
                <a:ea typeface="Georgia"/>
              </a:rPr>
              <a:t>Thank You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3200400" y="2559960"/>
            <a:ext cx="2742840" cy="36360"/>
          </a:xfrm>
          <a:prstGeom prst="rect">
            <a:avLst/>
          </a:prstGeom>
          <a:solidFill>
            <a:srgbClr val="D4A055"/>
          </a:solidFill>
          <a:ln w="12700">
            <a:solidFill>
              <a:srgbClr val="D4A0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1371600" y="269712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1371600" y="32457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9BC8A"/>
                </a:solidFill>
                <a:effectLst/>
                <a:uFillTx/>
                <a:latin typeface="Calibri"/>
                <a:ea typeface="Calibri"/>
              </a:rPr>
              <a:t>Exegesis  Platform Overview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2026-05-03T13:42:26Z</dcterms:created>
  <dc:creator>PptxGenJS</dc:creator>
  <dc:description/>
  <dc:language>en-US</dc:language>
  <cp:lastModifiedBy/>
  <dcterms:modified xsi:type="dcterms:W3CDTF">2026-05-04T13:09:32Z</dcterms:modified>
  <cp:revision>2</cp:revision>
  <dc:subject>PptxGenJS Presentation</dc:subject>
  <dc:title>Digital Literary Experience – Platform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
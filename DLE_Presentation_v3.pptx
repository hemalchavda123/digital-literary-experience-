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A6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7A5228"/>
          </a:solidFill>
          <a:ln w="12700">
            <a:solidFill>
              <a:srgbClr val="7A52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23960" y="0"/>
            <a:ext cx="320040" cy="5143500"/>
          </a:xfrm>
          <a:prstGeom prst="rect">
            <a:avLst/>
          </a:prstGeom>
          <a:solidFill>
            <a:srgbClr val="7A5228"/>
          </a:solidFill>
          <a:ln w="12700">
            <a:solidFill>
              <a:srgbClr val="7A52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0"/>
            <a:ext cx="8503920" cy="54864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640080"/>
            <a:ext cx="6949440" cy="3840480"/>
          </a:xfrm>
          <a:prstGeom prst="rect">
            <a:avLst/>
          </a:prstGeom>
          <a:solidFill>
            <a:srgbClr val="7A5228"/>
          </a:solidFill>
          <a:ln w="12700">
            <a:solidFill>
              <a:srgbClr val="7A522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86868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9164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9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Literary Experience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1371600" y="25146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9B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Collaborative Annotation &amp; Project Management Platform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200400" y="3090672"/>
            <a:ext cx="2743200" cy="36576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371600" y="3246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9B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Presentation  ·  Platform Overview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91440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Digital Literary Experience (DLE) is a web-based platform that brings collaborative literary analysis into a structured, digital workspace — combining document annotation, project management, and real-time discussion.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0" y="777240"/>
            <a:ext cx="3108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0" y="777240"/>
            <a:ext cx="91440" cy="1143000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09728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0" y="941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Annotate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0" y="1280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&amp; label text passages in PDF or plain-text documents.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669280" y="2148840"/>
            <a:ext cx="3108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669280" y="2148840"/>
            <a:ext cx="91440" cy="1143000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246888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00800" y="23134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Collaborate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400800" y="2651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workspaces with role-based access and live sync.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669280" y="3520440"/>
            <a:ext cx="31089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669280" y="3520440"/>
            <a:ext cx="91440" cy="1143000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448" y="384048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0" y="36850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40080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Assignments, submissions, grading, and progress tracking.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411480" y="45262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8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close reading and digital collaboration — for classrooms &amp; research groups.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Sitemap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011680" cy="3794760"/>
          </a:xfrm>
          <a:prstGeom prst="rect">
            <a:avLst/>
          </a:prstGeom>
          <a:solidFill>
            <a:srgbClr val="FAF6F0"/>
          </a:solidFill>
          <a:ln w="12700">
            <a:solidFill>
              <a:srgbClr val="E8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14400"/>
            <a:ext cx="2011680" cy="109728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0972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16184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 &amp; Profile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103120"/>
            <a:ext cx="1737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5D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21208" y="2103120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2715768"/>
            <a:ext cx="1737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5D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21208" y="2715768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Signup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3328416"/>
            <a:ext cx="1737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5D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21208" y="3328416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Recovery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3941064"/>
            <a:ext cx="1737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5D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1208" y="3941064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&amp; Settings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514600" y="914400"/>
            <a:ext cx="2011680" cy="3794760"/>
          </a:xfrm>
          <a:prstGeom prst="rect">
            <a:avLst/>
          </a:prstGeom>
          <a:solidFill>
            <a:srgbClr val="FAF6F0"/>
          </a:solidFill>
          <a:ln w="12700">
            <a:solidFill>
              <a:srgbClr val="E8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514600" y="914400"/>
            <a:ext cx="2011680" cy="109728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097280"/>
            <a:ext cx="457200" cy="4572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606040" y="16184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Workspace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2651760" y="2103120"/>
            <a:ext cx="1737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5DE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2715768" y="2103120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Dashboard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2651760" y="2715768"/>
            <a:ext cx="1737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5DE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2715768" y="2715768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Create/Delete Projects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2651760" y="3328416"/>
            <a:ext cx="1737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5DE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2715768" y="3328416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Roles &amp; Perms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2651760" y="3941064"/>
            <a:ext cx="1737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5DE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2715768" y="3941064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 &amp; Replies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709160" y="914400"/>
            <a:ext cx="2011680" cy="3794760"/>
          </a:xfrm>
          <a:prstGeom prst="rect">
            <a:avLst/>
          </a:prstGeom>
          <a:solidFill>
            <a:srgbClr val="FAF6F0"/>
          </a:solidFill>
          <a:ln w="12700">
            <a:solidFill>
              <a:srgbClr val="E8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709160" y="914400"/>
            <a:ext cx="2011680" cy="109728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097280"/>
            <a:ext cx="457200" cy="45720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4800600" y="16184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 &amp; Annotation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4846320" y="2103120"/>
            <a:ext cx="1737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5DE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4910328" y="2103120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&amp; PDF Viewer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4846320" y="2715768"/>
            <a:ext cx="1737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5DE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4910328" y="2715768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Labels &amp; Colors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4846320" y="3328416"/>
            <a:ext cx="1737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5DE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4910328" y="3328416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Annotations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4846320" y="3941064"/>
            <a:ext cx="1737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5DE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4910328" y="3941064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Threaded Comments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6903720" y="914400"/>
            <a:ext cx="2011680" cy="3794760"/>
          </a:xfrm>
          <a:prstGeom prst="rect">
            <a:avLst/>
          </a:prstGeom>
          <a:solidFill>
            <a:srgbClr val="FAF6F0"/>
          </a:solidFill>
          <a:ln w="12700">
            <a:solidFill>
              <a:srgbClr val="E8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6903720" y="914400"/>
            <a:ext cx="2011680" cy="109728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1097280"/>
            <a:ext cx="457200" cy="457200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6995160" y="16184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Assignments</a:t>
            </a:r>
            <a:endParaRPr lang="en-US" sz="1100" dirty="0"/>
          </a:p>
        </p:txBody>
      </p:sp>
      <p:sp>
        <p:nvSpPr>
          <p:cNvPr id="44" name="Shape 38"/>
          <p:cNvSpPr/>
          <p:nvPr/>
        </p:nvSpPr>
        <p:spPr>
          <a:xfrm>
            <a:off x="7040880" y="2103120"/>
            <a:ext cx="1737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5DE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7104888" y="2103120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Assignments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7040880" y="2715768"/>
            <a:ext cx="1737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5DE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104888" y="2715768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Tracking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7040880" y="3328416"/>
            <a:ext cx="1737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5DE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7104888" y="3328416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Pending→Completed</a:t>
            </a:r>
            <a:endParaRPr lang="en-US" sz="1000" dirty="0"/>
          </a:p>
        </p:txBody>
      </p:sp>
      <p:sp>
        <p:nvSpPr>
          <p:cNvPr id="50" name="Shape 44"/>
          <p:cNvSpPr/>
          <p:nvPr/>
        </p:nvSpPr>
        <p:spPr>
          <a:xfrm>
            <a:off x="7040880" y="3941064"/>
            <a:ext cx="1737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5DE"/>
            </a:solidFill>
            <a:prstDash val="solid"/>
          </a:ln>
        </p:spPr>
      </p:sp>
      <p:sp>
        <p:nvSpPr>
          <p:cNvPr id="51" name="Text 45"/>
          <p:cNvSpPr/>
          <p:nvPr/>
        </p:nvSpPr>
        <p:spPr>
          <a:xfrm>
            <a:off x="7104888" y="3941064"/>
            <a:ext cx="16093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&amp; Feedback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Workflow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307592"/>
            <a:ext cx="36576" cy="777240"/>
          </a:xfrm>
          <a:prstGeom prst="rect">
            <a:avLst/>
          </a:prstGeom>
          <a:solidFill>
            <a:srgbClr val="D9BC8A"/>
          </a:solidFill>
          <a:ln w="12700">
            <a:solidFill>
              <a:srgbClr val="D9BC8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005840"/>
            <a:ext cx="475488" cy="475488"/>
          </a:xfrm>
          <a:prstGeom prst="ellipse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005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280160" y="960120"/>
            <a:ext cx="74980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80160" y="960120"/>
            <a:ext cx="91440" cy="804672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08760" y="10241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Setup &amp; Onboarding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08760" y="1344168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an account, create a project, and share invite links with collaborators.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2295144"/>
            <a:ext cx="36576" cy="777240"/>
          </a:xfrm>
          <a:prstGeom prst="rect">
            <a:avLst/>
          </a:prstGeom>
          <a:solidFill>
            <a:srgbClr val="D9BC8A"/>
          </a:solidFill>
          <a:ln w="12700">
            <a:solidFill>
              <a:srgbClr val="D9BC8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993392"/>
            <a:ext cx="475488" cy="475488"/>
          </a:xfrm>
          <a:prstGeom prst="ellipse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9933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280160" y="1947672"/>
            <a:ext cx="74980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280160" y="1947672"/>
            <a:ext cx="91440" cy="804672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08760" y="201168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 &amp; Curation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08760" y="23317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 or text documents and define annotation labels (e.g., Metaphor, Symbolism).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3282696"/>
            <a:ext cx="36576" cy="777240"/>
          </a:xfrm>
          <a:prstGeom prst="rect">
            <a:avLst/>
          </a:prstGeom>
          <a:solidFill>
            <a:srgbClr val="D9BC8A"/>
          </a:solidFill>
          <a:ln w="12700">
            <a:solidFill>
              <a:srgbClr val="D9BC8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80944"/>
            <a:ext cx="475488" cy="475488"/>
          </a:xfrm>
          <a:prstGeom prst="ellipse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809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280160" y="2935224"/>
            <a:ext cx="74980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280160" y="2935224"/>
            <a:ext cx="91440" cy="804672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08760" y="299923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Collaborative Analysis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08760" y="3319272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annotate passages, attach labels, and hold threaded discussions within the text.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94360" y="3968496"/>
            <a:ext cx="475488" cy="475488"/>
          </a:xfrm>
          <a:prstGeom prst="ellipse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3968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280160" y="3922776"/>
            <a:ext cx="74980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280160" y="3922776"/>
            <a:ext cx="91440" cy="804672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08760" y="3986784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 &amp; Tracking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508760" y="4306824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issue assignments; members submit work; status flows Pending → Submitted → Completed.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Entity–Relationship Diagram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512064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88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Synchronized 1:1 with schema.prisma  ·  Primary key fields in bold gold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256032" y="804672"/>
            <a:ext cx="1508760" cy="1271016"/>
          </a:xfrm>
          <a:prstGeom prst="rect">
            <a:avLst/>
          </a:prstGeom>
          <a:solidFill>
            <a:srgbClr val="FFFFFF"/>
          </a:solidFill>
          <a:ln w="15240">
            <a:solidFill>
              <a:srgbClr val="B8843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804672"/>
            <a:ext cx="1508760" cy="246888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" y="81381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680" dirty="0"/>
          </a:p>
        </p:txBody>
      </p:sp>
      <p:sp>
        <p:nvSpPr>
          <p:cNvPr id="8" name="Text 6"/>
          <p:cNvSpPr/>
          <p:nvPr/>
        </p:nvSpPr>
        <p:spPr>
          <a:xfrm>
            <a:off x="320040" y="1078992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PK</a:t>
            </a:r>
            <a:endParaRPr lang="en-US" sz="630" dirty="0"/>
          </a:p>
        </p:txBody>
      </p:sp>
      <p:sp>
        <p:nvSpPr>
          <p:cNvPr id="9" name="Shape 7"/>
          <p:cNvSpPr/>
          <p:nvPr/>
        </p:nvSpPr>
        <p:spPr>
          <a:xfrm>
            <a:off x="292608" y="1261872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271016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630" dirty="0"/>
          </a:p>
        </p:txBody>
      </p:sp>
      <p:sp>
        <p:nvSpPr>
          <p:cNvPr id="11" name="Shape 9"/>
          <p:cNvSpPr/>
          <p:nvPr/>
        </p:nvSpPr>
        <p:spPr>
          <a:xfrm>
            <a:off x="292608" y="1453896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463040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</a:t>
            </a:r>
            <a:endParaRPr lang="en-US" sz="630" dirty="0"/>
          </a:p>
        </p:txBody>
      </p:sp>
      <p:sp>
        <p:nvSpPr>
          <p:cNvPr id="13" name="Shape 11"/>
          <p:cNvSpPr/>
          <p:nvPr/>
        </p:nvSpPr>
        <p:spPr>
          <a:xfrm>
            <a:off x="292608" y="1645920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6550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292608" y="1837944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1847088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profileImage</a:t>
            </a:r>
            <a:endParaRPr lang="en-US" sz="630" dirty="0"/>
          </a:p>
        </p:txBody>
      </p:sp>
      <p:sp>
        <p:nvSpPr>
          <p:cNvPr id="17" name="Shape 15"/>
          <p:cNvSpPr/>
          <p:nvPr/>
        </p:nvSpPr>
        <p:spPr>
          <a:xfrm>
            <a:off x="1938528" y="804672"/>
            <a:ext cx="1508760" cy="1078992"/>
          </a:xfrm>
          <a:prstGeom prst="rect">
            <a:avLst/>
          </a:prstGeom>
          <a:solidFill>
            <a:srgbClr val="FFFFFF"/>
          </a:solidFill>
          <a:ln w="15240">
            <a:solidFill>
              <a:srgbClr val="B8843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938528" y="804672"/>
            <a:ext cx="1508760" cy="246888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84248" y="81381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2002536" y="1078992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PK</a:t>
            </a:r>
            <a:endParaRPr lang="en-US" sz="630" dirty="0"/>
          </a:p>
        </p:txBody>
      </p:sp>
      <p:sp>
        <p:nvSpPr>
          <p:cNvPr id="21" name="Shape 19"/>
          <p:cNvSpPr/>
          <p:nvPr/>
        </p:nvSpPr>
        <p:spPr>
          <a:xfrm>
            <a:off x="1975104" y="1261872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02536" y="1271016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630" dirty="0"/>
          </a:p>
        </p:txBody>
      </p:sp>
      <p:sp>
        <p:nvSpPr>
          <p:cNvPr id="23" name="Shape 21"/>
          <p:cNvSpPr/>
          <p:nvPr/>
        </p:nvSpPr>
        <p:spPr>
          <a:xfrm>
            <a:off x="1975104" y="1453896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02536" y="1463040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ownerId  FK</a:t>
            </a:r>
            <a:endParaRPr lang="en-US" sz="630" dirty="0"/>
          </a:p>
        </p:txBody>
      </p:sp>
      <p:sp>
        <p:nvSpPr>
          <p:cNvPr id="25" name="Shape 23"/>
          <p:cNvSpPr/>
          <p:nvPr/>
        </p:nvSpPr>
        <p:spPr>
          <a:xfrm>
            <a:off x="1975104" y="1645920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02536" y="16550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defaultCanAnnotate</a:t>
            </a:r>
            <a:endParaRPr lang="en-US" sz="630" dirty="0"/>
          </a:p>
        </p:txBody>
      </p:sp>
      <p:sp>
        <p:nvSpPr>
          <p:cNvPr id="27" name="Shape 25"/>
          <p:cNvSpPr/>
          <p:nvPr/>
        </p:nvSpPr>
        <p:spPr>
          <a:xfrm>
            <a:off x="3621024" y="804672"/>
            <a:ext cx="1508760" cy="1271016"/>
          </a:xfrm>
          <a:prstGeom prst="rect">
            <a:avLst/>
          </a:prstGeom>
          <a:solidFill>
            <a:srgbClr val="FFFFFF"/>
          </a:solidFill>
          <a:ln w="15240">
            <a:solidFill>
              <a:srgbClr val="B8843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621024" y="804672"/>
            <a:ext cx="1508760" cy="246888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66744" y="81381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3685032" y="1078992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PK</a:t>
            </a:r>
            <a:endParaRPr lang="en-US" sz="630" dirty="0"/>
          </a:p>
        </p:txBody>
      </p:sp>
      <p:sp>
        <p:nvSpPr>
          <p:cNvPr id="31" name="Shape 29"/>
          <p:cNvSpPr/>
          <p:nvPr/>
        </p:nvSpPr>
        <p:spPr>
          <a:xfrm>
            <a:off x="3657600" y="1261872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85032" y="1271016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630" dirty="0"/>
          </a:p>
        </p:txBody>
      </p:sp>
      <p:sp>
        <p:nvSpPr>
          <p:cNvPr id="33" name="Shape 31"/>
          <p:cNvSpPr/>
          <p:nvPr/>
        </p:nvSpPr>
        <p:spPr>
          <a:xfrm>
            <a:off x="3657600" y="1453896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85032" y="1463040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projectId  FK</a:t>
            </a:r>
            <a:endParaRPr lang="en-US" sz="630" dirty="0"/>
          </a:p>
        </p:txBody>
      </p:sp>
      <p:sp>
        <p:nvSpPr>
          <p:cNvPr id="35" name="Shape 33"/>
          <p:cNvSpPr/>
          <p:nvPr/>
        </p:nvSpPr>
        <p:spPr>
          <a:xfrm>
            <a:off x="3657600" y="1645920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85032" y="16550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</a:t>
            </a:r>
            <a:endParaRPr lang="en-US" sz="630" dirty="0"/>
          </a:p>
        </p:txBody>
      </p:sp>
      <p:sp>
        <p:nvSpPr>
          <p:cNvPr id="37" name="Shape 35"/>
          <p:cNvSpPr/>
          <p:nvPr/>
        </p:nvSpPr>
        <p:spPr>
          <a:xfrm>
            <a:off x="3657600" y="1837944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85032" y="1847088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content/pdfUrl</a:t>
            </a:r>
            <a:endParaRPr lang="en-US" sz="630" dirty="0"/>
          </a:p>
        </p:txBody>
      </p:sp>
      <p:sp>
        <p:nvSpPr>
          <p:cNvPr id="39" name="Shape 37"/>
          <p:cNvSpPr/>
          <p:nvPr/>
        </p:nvSpPr>
        <p:spPr>
          <a:xfrm>
            <a:off x="5303520" y="804672"/>
            <a:ext cx="1508760" cy="1463040"/>
          </a:xfrm>
          <a:prstGeom prst="rect">
            <a:avLst/>
          </a:prstGeom>
          <a:solidFill>
            <a:srgbClr val="FFFFFF"/>
          </a:solidFill>
          <a:ln w="15240">
            <a:solidFill>
              <a:srgbClr val="B8843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303520" y="804672"/>
            <a:ext cx="1508760" cy="246888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49240" y="81381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ANNOTATION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5367528" y="1078992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PK</a:t>
            </a:r>
            <a:endParaRPr lang="en-US" sz="630" dirty="0"/>
          </a:p>
        </p:txBody>
      </p:sp>
      <p:sp>
        <p:nvSpPr>
          <p:cNvPr id="43" name="Shape 41"/>
          <p:cNvSpPr/>
          <p:nvPr/>
        </p:nvSpPr>
        <p:spPr>
          <a:xfrm>
            <a:off x="5340096" y="1261872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67528" y="1271016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docId  FK</a:t>
            </a:r>
            <a:endParaRPr lang="en-US" sz="630" dirty="0"/>
          </a:p>
        </p:txBody>
      </p:sp>
      <p:sp>
        <p:nvSpPr>
          <p:cNvPr id="45" name="Shape 43"/>
          <p:cNvSpPr/>
          <p:nvPr/>
        </p:nvSpPr>
        <p:spPr>
          <a:xfrm>
            <a:off x="5340096" y="1453896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67528" y="1463040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labelId  FK</a:t>
            </a:r>
            <a:endParaRPr lang="en-US" sz="630" dirty="0"/>
          </a:p>
        </p:txBody>
      </p:sp>
      <p:sp>
        <p:nvSpPr>
          <p:cNvPr id="47" name="Shape 45"/>
          <p:cNvSpPr/>
          <p:nvPr/>
        </p:nvSpPr>
        <p:spPr>
          <a:xfrm>
            <a:off x="5340096" y="1645920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67528" y="16550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 FK</a:t>
            </a:r>
            <a:endParaRPr lang="en-US" sz="630" dirty="0"/>
          </a:p>
        </p:txBody>
      </p:sp>
      <p:sp>
        <p:nvSpPr>
          <p:cNvPr id="49" name="Shape 47"/>
          <p:cNvSpPr/>
          <p:nvPr/>
        </p:nvSpPr>
        <p:spPr>
          <a:xfrm>
            <a:off x="5340096" y="1837944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67528" y="1847088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startOffset</a:t>
            </a:r>
            <a:endParaRPr lang="en-US" sz="630" dirty="0"/>
          </a:p>
        </p:txBody>
      </p:sp>
      <p:sp>
        <p:nvSpPr>
          <p:cNvPr id="51" name="Shape 49"/>
          <p:cNvSpPr/>
          <p:nvPr/>
        </p:nvSpPr>
        <p:spPr>
          <a:xfrm>
            <a:off x="5340096" y="2029968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67528" y="2039112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endOffset</a:t>
            </a:r>
            <a:endParaRPr lang="en-US" sz="630" dirty="0"/>
          </a:p>
        </p:txBody>
      </p:sp>
      <p:sp>
        <p:nvSpPr>
          <p:cNvPr id="53" name="Shape 51"/>
          <p:cNvSpPr/>
          <p:nvPr/>
        </p:nvSpPr>
        <p:spPr>
          <a:xfrm>
            <a:off x="6986016" y="804672"/>
            <a:ext cx="150876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4A05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986016" y="804672"/>
            <a:ext cx="1508760" cy="246888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1736" y="81381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ANNOTATION_COMMENT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7050024" y="1078992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PK</a:t>
            </a:r>
            <a:endParaRPr lang="en-US" sz="630" dirty="0"/>
          </a:p>
        </p:txBody>
      </p:sp>
      <p:sp>
        <p:nvSpPr>
          <p:cNvPr id="57" name="Shape 55"/>
          <p:cNvSpPr/>
          <p:nvPr/>
        </p:nvSpPr>
        <p:spPr>
          <a:xfrm>
            <a:off x="7022592" y="1261872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50024" y="1271016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annotationId  FK</a:t>
            </a:r>
            <a:endParaRPr lang="en-US" sz="630" dirty="0"/>
          </a:p>
        </p:txBody>
      </p:sp>
      <p:sp>
        <p:nvSpPr>
          <p:cNvPr id="59" name="Shape 57"/>
          <p:cNvSpPr/>
          <p:nvPr/>
        </p:nvSpPr>
        <p:spPr>
          <a:xfrm>
            <a:off x="7022592" y="1453896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50024" y="1463040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 FK</a:t>
            </a:r>
            <a:endParaRPr lang="en-US" sz="630" dirty="0"/>
          </a:p>
        </p:txBody>
      </p:sp>
      <p:sp>
        <p:nvSpPr>
          <p:cNvPr id="61" name="Shape 59"/>
          <p:cNvSpPr/>
          <p:nvPr/>
        </p:nvSpPr>
        <p:spPr>
          <a:xfrm>
            <a:off x="7022592" y="1645920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050024" y="16550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630" dirty="0"/>
          </a:p>
        </p:txBody>
      </p:sp>
      <p:sp>
        <p:nvSpPr>
          <p:cNvPr id="63" name="Shape 61"/>
          <p:cNvSpPr/>
          <p:nvPr/>
        </p:nvSpPr>
        <p:spPr>
          <a:xfrm>
            <a:off x="5303520" y="2788920"/>
            <a:ext cx="1508760" cy="1271016"/>
          </a:xfrm>
          <a:prstGeom prst="rect">
            <a:avLst/>
          </a:prstGeom>
          <a:solidFill>
            <a:srgbClr val="FFFFFF"/>
          </a:solidFill>
          <a:ln w="10160">
            <a:solidFill>
              <a:srgbClr val="D4A05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5303520" y="2788920"/>
            <a:ext cx="1508760" cy="246888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349240" y="279806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</a:t>
            </a:r>
            <a:endParaRPr lang="en-US" sz="680" dirty="0"/>
          </a:p>
        </p:txBody>
      </p:sp>
      <p:sp>
        <p:nvSpPr>
          <p:cNvPr id="66" name="Text 64"/>
          <p:cNvSpPr/>
          <p:nvPr/>
        </p:nvSpPr>
        <p:spPr>
          <a:xfrm>
            <a:off x="5367528" y="3063240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PK</a:t>
            </a:r>
            <a:endParaRPr lang="en-US" sz="630" dirty="0"/>
          </a:p>
        </p:txBody>
      </p:sp>
      <p:sp>
        <p:nvSpPr>
          <p:cNvPr id="67" name="Shape 65"/>
          <p:cNvSpPr/>
          <p:nvPr/>
        </p:nvSpPr>
        <p:spPr>
          <a:xfrm>
            <a:off x="5340096" y="3246120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67528" y="32552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projectId  FK</a:t>
            </a:r>
            <a:endParaRPr lang="en-US" sz="630" dirty="0"/>
          </a:p>
        </p:txBody>
      </p:sp>
      <p:sp>
        <p:nvSpPr>
          <p:cNvPr id="69" name="Shape 67"/>
          <p:cNvSpPr/>
          <p:nvPr/>
        </p:nvSpPr>
        <p:spPr>
          <a:xfrm>
            <a:off x="5340096" y="3438144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67528" y="3447288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630" dirty="0"/>
          </a:p>
        </p:txBody>
      </p:sp>
      <p:sp>
        <p:nvSpPr>
          <p:cNvPr id="71" name="Shape 69"/>
          <p:cNvSpPr/>
          <p:nvPr/>
        </p:nvSpPr>
        <p:spPr>
          <a:xfrm>
            <a:off x="5340096" y="3630168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367528" y="3639312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630" dirty="0"/>
          </a:p>
        </p:txBody>
      </p:sp>
      <p:sp>
        <p:nvSpPr>
          <p:cNvPr id="73" name="Shape 71"/>
          <p:cNvSpPr/>
          <p:nvPr/>
        </p:nvSpPr>
        <p:spPr>
          <a:xfrm>
            <a:off x="5340096" y="3822192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367528" y="3831336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 FK</a:t>
            </a:r>
            <a:endParaRPr lang="en-US" sz="630" dirty="0"/>
          </a:p>
        </p:txBody>
      </p:sp>
      <p:sp>
        <p:nvSpPr>
          <p:cNvPr id="75" name="Shape 73"/>
          <p:cNvSpPr/>
          <p:nvPr/>
        </p:nvSpPr>
        <p:spPr>
          <a:xfrm>
            <a:off x="1938528" y="2788920"/>
            <a:ext cx="1508760" cy="1271016"/>
          </a:xfrm>
          <a:prstGeom prst="rect">
            <a:avLst/>
          </a:prstGeom>
          <a:solidFill>
            <a:srgbClr val="FFFFFF"/>
          </a:solidFill>
          <a:ln w="10160">
            <a:solidFill>
              <a:srgbClr val="D4A05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1938528" y="2788920"/>
            <a:ext cx="1508760" cy="246888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984248" y="279806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PROJECT_MEMBER</a:t>
            </a:r>
            <a:endParaRPr lang="en-US" sz="680" dirty="0"/>
          </a:p>
        </p:txBody>
      </p:sp>
      <p:sp>
        <p:nvSpPr>
          <p:cNvPr id="78" name="Text 76"/>
          <p:cNvSpPr/>
          <p:nvPr/>
        </p:nvSpPr>
        <p:spPr>
          <a:xfrm>
            <a:off x="2002536" y="3063240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PK</a:t>
            </a:r>
            <a:endParaRPr lang="en-US" sz="630" dirty="0"/>
          </a:p>
        </p:txBody>
      </p:sp>
      <p:sp>
        <p:nvSpPr>
          <p:cNvPr id="79" name="Shape 77"/>
          <p:cNvSpPr/>
          <p:nvPr/>
        </p:nvSpPr>
        <p:spPr>
          <a:xfrm>
            <a:off x="1975104" y="3246120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002536" y="32552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projectId  FK</a:t>
            </a:r>
            <a:endParaRPr lang="en-US" sz="630" dirty="0"/>
          </a:p>
        </p:txBody>
      </p:sp>
      <p:sp>
        <p:nvSpPr>
          <p:cNvPr id="81" name="Shape 79"/>
          <p:cNvSpPr/>
          <p:nvPr/>
        </p:nvSpPr>
        <p:spPr>
          <a:xfrm>
            <a:off x="1975104" y="3438144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002536" y="3447288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 FK</a:t>
            </a:r>
            <a:endParaRPr lang="en-US" sz="630" dirty="0"/>
          </a:p>
        </p:txBody>
      </p:sp>
      <p:sp>
        <p:nvSpPr>
          <p:cNvPr id="83" name="Shape 81"/>
          <p:cNvSpPr/>
          <p:nvPr/>
        </p:nvSpPr>
        <p:spPr>
          <a:xfrm>
            <a:off x="1975104" y="3630168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002536" y="3639312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630" dirty="0"/>
          </a:p>
        </p:txBody>
      </p:sp>
      <p:sp>
        <p:nvSpPr>
          <p:cNvPr id="85" name="Shape 83"/>
          <p:cNvSpPr/>
          <p:nvPr/>
        </p:nvSpPr>
        <p:spPr>
          <a:xfrm>
            <a:off x="1975104" y="3822192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2002536" y="3831336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canAnnotate</a:t>
            </a:r>
            <a:endParaRPr lang="en-US" sz="630" dirty="0"/>
          </a:p>
        </p:txBody>
      </p:sp>
      <p:sp>
        <p:nvSpPr>
          <p:cNvPr id="87" name="Shape 85"/>
          <p:cNvSpPr/>
          <p:nvPr/>
        </p:nvSpPr>
        <p:spPr>
          <a:xfrm>
            <a:off x="256032" y="2788920"/>
            <a:ext cx="1508760" cy="1271016"/>
          </a:xfrm>
          <a:prstGeom prst="rect">
            <a:avLst/>
          </a:prstGeom>
          <a:solidFill>
            <a:srgbClr val="FFFFFF"/>
          </a:solidFill>
          <a:ln w="10160">
            <a:solidFill>
              <a:srgbClr val="D4A05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8" name="Shape 86"/>
          <p:cNvSpPr/>
          <p:nvPr/>
        </p:nvSpPr>
        <p:spPr>
          <a:xfrm>
            <a:off x="256032" y="2788920"/>
            <a:ext cx="1508760" cy="246888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01752" y="279806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PROJECT_INVITE</a:t>
            </a:r>
            <a:endParaRPr lang="en-US" sz="680" dirty="0"/>
          </a:p>
        </p:txBody>
      </p:sp>
      <p:sp>
        <p:nvSpPr>
          <p:cNvPr id="90" name="Text 88"/>
          <p:cNvSpPr/>
          <p:nvPr/>
        </p:nvSpPr>
        <p:spPr>
          <a:xfrm>
            <a:off x="320040" y="3063240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PK</a:t>
            </a:r>
            <a:endParaRPr lang="en-US" sz="630" dirty="0"/>
          </a:p>
        </p:txBody>
      </p:sp>
      <p:sp>
        <p:nvSpPr>
          <p:cNvPr id="91" name="Shape 89"/>
          <p:cNvSpPr/>
          <p:nvPr/>
        </p:nvSpPr>
        <p:spPr>
          <a:xfrm>
            <a:off x="292608" y="3246120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20040" y="32552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projectId  FK</a:t>
            </a:r>
            <a:endParaRPr lang="en-US" sz="630" dirty="0"/>
          </a:p>
        </p:txBody>
      </p:sp>
      <p:sp>
        <p:nvSpPr>
          <p:cNvPr id="93" name="Shape 91"/>
          <p:cNvSpPr/>
          <p:nvPr/>
        </p:nvSpPr>
        <p:spPr>
          <a:xfrm>
            <a:off x="292608" y="3438144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20040" y="3447288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</a:t>
            </a:r>
            <a:endParaRPr lang="en-US" sz="630" dirty="0"/>
          </a:p>
        </p:txBody>
      </p:sp>
      <p:sp>
        <p:nvSpPr>
          <p:cNvPr id="95" name="Shape 93"/>
          <p:cNvSpPr/>
          <p:nvPr/>
        </p:nvSpPr>
        <p:spPr>
          <a:xfrm>
            <a:off x="292608" y="3630168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20040" y="3639312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630" dirty="0"/>
          </a:p>
        </p:txBody>
      </p:sp>
      <p:sp>
        <p:nvSpPr>
          <p:cNvPr id="97" name="Shape 95"/>
          <p:cNvSpPr/>
          <p:nvPr/>
        </p:nvSpPr>
        <p:spPr>
          <a:xfrm>
            <a:off x="292608" y="3822192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20040" y="3831336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expiresAt</a:t>
            </a:r>
            <a:endParaRPr lang="en-US" sz="630" dirty="0"/>
          </a:p>
        </p:txBody>
      </p:sp>
      <p:sp>
        <p:nvSpPr>
          <p:cNvPr id="99" name="Shape 97"/>
          <p:cNvSpPr/>
          <p:nvPr/>
        </p:nvSpPr>
        <p:spPr>
          <a:xfrm>
            <a:off x="3621024" y="2788920"/>
            <a:ext cx="150876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4A05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0" name="Shape 98"/>
          <p:cNvSpPr/>
          <p:nvPr/>
        </p:nvSpPr>
        <p:spPr>
          <a:xfrm>
            <a:off x="3621024" y="2788920"/>
            <a:ext cx="1508760" cy="246888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666744" y="279806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ANNOUNCEMENT</a:t>
            </a:r>
            <a:endParaRPr lang="en-US" sz="680" dirty="0"/>
          </a:p>
        </p:txBody>
      </p:sp>
      <p:sp>
        <p:nvSpPr>
          <p:cNvPr id="102" name="Text 100"/>
          <p:cNvSpPr/>
          <p:nvPr/>
        </p:nvSpPr>
        <p:spPr>
          <a:xfrm>
            <a:off x="3685032" y="3063240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PK</a:t>
            </a:r>
            <a:endParaRPr lang="en-US" sz="630" dirty="0"/>
          </a:p>
        </p:txBody>
      </p:sp>
      <p:sp>
        <p:nvSpPr>
          <p:cNvPr id="103" name="Shape 101"/>
          <p:cNvSpPr/>
          <p:nvPr/>
        </p:nvSpPr>
        <p:spPr>
          <a:xfrm>
            <a:off x="3657600" y="3246120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685032" y="32552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projectId  FK</a:t>
            </a:r>
            <a:endParaRPr lang="en-US" sz="630" dirty="0"/>
          </a:p>
        </p:txBody>
      </p:sp>
      <p:sp>
        <p:nvSpPr>
          <p:cNvPr id="105" name="Shape 103"/>
          <p:cNvSpPr/>
          <p:nvPr/>
        </p:nvSpPr>
        <p:spPr>
          <a:xfrm>
            <a:off x="3657600" y="3438144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685032" y="3447288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630" dirty="0"/>
          </a:p>
        </p:txBody>
      </p:sp>
      <p:sp>
        <p:nvSpPr>
          <p:cNvPr id="107" name="Shape 105"/>
          <p:cNvSpPr/>
          <p:nvPr/>
        </p:nvSpPr>
        <p:spPr>
          <a:xfrm>
            <a:off x="3657600" y="3630168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685032" y="3639312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createdAt</a:t>
            </a:r>
            <a:endParaRPr lang="en-US" sz="630" dirty="0"/>
          </a:p>
        </p:txBody>
      </p:sp>
      <p:sp>
        <p:nvSpPr>
          <p:cNvPr id="109" name="Shape 107"/>
          <p:cNvSpPr/>
          <p:nvPr/>
        </p:nvSpPr>
        <p:spPr>
          <a:xfrm>
            <a:off x="6986016" y="2788920"/>
            <a:ext cx="1508760" cy="1078992"/>
          </a:xfrm>
          <a:prstGeom prst="rect">
            <a:avLst/>
          </a:prstGeom>
          <a:solidFill>
            <a:srgbClr val="FFFFFF"/>
          </a:solidFill>
          <a:ln w="10160">
            <a:solidFill>
              <a:srgbClr val="D4A05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0" name="Shape 108"/>
          <p:cNvSpPr/>
          <p:nvPr/>
        </p:nvSpPr>
        <p:spPr>
          <a:xfrm>
            <a:off x="6986016" y="2788920"/>
            <a:ext cx="1508760" cy="246888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7031736" y="279806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ANNOUNCEMENT_REPLY</a:t>
            </a:r>
            <a:endParaRPr lang="en-US" sz="680" dirty="0"/>
          </a:p>
        </p:txBody>
      </p:sp>
      <p:sp>
        <p:nvSpPr>
          <p:cNvPr id="112" name="Text 110"/>
          <p:cNvSpPr/>
          <p:nvPr/>
        </p:nvSpPr>
        <p:spPr>
          <a:xfrm>
            <a:off x="7050024" y="3063240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PK</a:t>
            </a:r>
            <a:endParaRPr lang="en-US" sz="630" dirty="0"/>
          </a:p>
        </p:txBody>
      </p:sp>
      <p:sp>
        <p:nvSpPr>
          <p:cNvPr id="113" name="Shape 111"/>
          <p:cNvSpPr/>
          <p:nvPr/>
        </p:nvSpPr>
        <p:spPr>
          <a:xfrm>
            <a:off x="7022592" y="3246120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7050024" y="32552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announcementId  FK</a:t>
            </a:r>
            <a:endParaRPr lang="en-US" sz="630" dirty="0"/>
          </a:p>
        </p:txBody>
      </p:sp>
      <p:sp>
        <p:nvSpPr>
          <p:cNvPr id="115" name="Shape 113"/>
          <p:cNvSpPr/>
          <p:nvPr/>
        </p:nvSpPr>
        <p:spPr>
          <a:xfrm>
            <a:off x="7022592" y="3438144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050024" y="3447288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 FK</a:t>
            </a:r>
            <a:endParaRPr lang="en-US" sz="630" dirty="0"/>
          </a:p>
        </p:txBody>
      </p:sp>
      <p:sp>
        <p:nvSpPr>
          <p:cNvPr id="117" name="Shape 115"/>
          <p:cNvSpPr/>
          <p:nvPr/>
        </p:nvSpPr>
        <p:spPr>
          <a:xfrm>
            <a:off x="7022592" y="3630168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7050024" y="3639312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630" dirty="0"/>
          </a:p>
        </p:txBody>
      </p:sp>
      <p:sp>
        <p:nvSpPr>
          <p:cNvPr id="119" name="Shape 117"/>
          <p:cNvSpPr/>
          <p:nvPr/>
        </p:nvSpPr>
        <p:spPr>
          <a:xfrm>
            <a:off x="256032" y="4160520"/>
            <a:ext cx="1508760" cy="1271016"/>
          </a:xfrm>
          <a:prstGeom prst="rect">
            <a:avLst/>
          </a:prstGeom>
          <a:solidFill>
            <a:srgbClr val="FFFFFF"/>
          </a:solidFill>
          <a:ln w="10160">
            <a:solidFill>
              <a:srgbClr val="D4A05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0" name="Shape 118"/>
          <p:cNvSpPr/>
          <p:nvPr/>
        </p:nvSpPr>
        <p:spPr>
          <a:xfrm>
            <a:off x="256032" y="4160520"/>
            <a:ext cx="1508760" cy="246888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01752" y="416966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ASSIGNMENT</a:t>
            </a:r>
            <a:endParaRPr lang="en-US" sz="680" dirty="0"/>
          </a:p>
        </p:txBody>
      </p:sp>
      <p:sp>
        <p:nvSpPr>
          <p:cNvPr id="122" name="Text 120"/>
          <p:cNvSpPr/>
          <p:nvPr/>
        </p:nvSpPr>
        <p:spPr>
          <a:xfrm>
            <a:off x="320040" y="4434840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PK</a:t>
            </a:r>
            <a:endParaRPr lang="en-US" sz="630" dirty="0"/>
          </a:p>
        </p:txBody>
      </p:sp>
      <p:sp>
        <p:nvSpPr>
          <p:cNvPr id="123" name="Shape 121"/>
          <p:cNvSpPr/>
          <p:nvPr/>
        </p:nvSpPr>
        <p:spPr>
          <a:xfrm>
            <a:off x="292608" y="4617720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320040" y="46268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projectId  FK</a:t>
            </a:r>
            <a:endParaRPr lang="en-US" sz="630" dirty="0"/>
          </a:p>
        </p:txBody>
      </p:sp>
      <p:sp>
        <p:nvSpPr>
          <p:cNvPr id="125" name="Shape 123"/>
          <p:cNvSpPr/>
          <p:nvPr/>
        </p:nvSpPr>
        <p:spPr>
          <a:xfrm>
            <a:off x="292608" y="4809744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20040" y="4818888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630" dirty="0"/>
          </a:p>
        </p:txBody>
      </p:sp>
      <p:sp>
        <p:nvSpPr>
          <p:cNvPr id="127" name="Shape 125"/>
          <p:cNvSpPr/>
          <p:nvPr/>
        </p:nvSpPr>
        <p:spPr>
          <a:xfrm>
            <a:off x="292608" y="5001768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320040" y="5010912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dueDate</a:t>
            </a:r>
            <a:endParaRPr lang="en-US" sz="630" dirty="0"/>
          </a:p>
        </p:txBody>
      </p:sp>
      <p:sp>
        <p:nvSpPr>
          <p:cNvPr id="129" name="Shape 127"/>
          <p:cNvSpPr/>
          <p:nvPr/>
        </p:nvSpPr>
        <p:spPr>
          <a:xfrm>
            <a:off x="292608" y="5193792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20040" y="5202936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totalMarks</a:t>
            </a:r>
            <a:endParaRPr lang="en-US" sz="630" dirty="0"/>
          </a:p>
        </p:txBody>
      </p:sp>
      <p:sp>
        <p:nvSpPr>
          <p:cNvPr id="131" name="Shape 129"/>
          <p:cNvSpPr/>
          <p:nvPr/>
        </p:nvSpPr>
        <p:spPr>
          <a:xfrm>
            <a:off x="1938528" y="4160520"/>
            <a:ext cx="1508760" cy="1271016"/>
          </a:xfrm>
          <a:prstGeom prst="rect">
            <a:avLst/>
          </a:prstGeom>
          <a:solidFill>
            <a:srgbClr val="FFFFFF"/>
          </a:solidFill>
          <a:ln w="10160">
            <a:solidFill>
              <a:srgbClr val="D4A05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1938528" y="4160520"/>
            <a:ext cx="1508760" cy="246888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984248" y="416966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ASSIGNMENT_STATUS</a:t>
            </a:r>
            <a:endParaRPr lang="en-US" sz="680" dirty="0"/>
          </a:p>
        </p:txBody>
      </p:sp>
      <p:sp>
        <p:nvSpPr>
          <p:cNvPr id="134" name="Text 132"/>
          <p:cNvSpPr/>
          <p:nvPr/>
        </p:nvSpPr>
        <p:spPr>
          <a:xfrm>
            <a:off x="2002536" y="4434840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PK</a:t>
            </a:r>
            <a:endParaRPr lang="en-US" sz="630" dirty="0"/>
          </a:p>
        </p:txBody>
      </p:sp>
      <p:sp>
        <p:nvSpPr>
          <p:cNvPr id="135" name="Shape 133"/>
          <p:cNvSpPr/>
          <p:nvPr/>
        </p:nvSpPr>
        <p:spPr>
          <a:xfrm>
            <a:off x="1975104" y="4617720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002536" y="46268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assignmentId  FK</a:t>
            </a:r>
            <a:endParaRPr lang="en-US" sz="630" dirty="0"/>
          </a:p>
        </p:txBody>
      </p:sp>
      <p:sp>
        <p:nvSpPr>
          <p:cNvPr id="137" name="Shape 135"/>
          <p:cNvSpPr/>
          <p:nvPr/>
        </p:nvSpPr>
        <p:spPr>
          <a:xfrm>
            <a:off x="1975104" y="4809744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2002536" y="4818888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i="1" dirty="0">
                <a:solidFill>
                  <a:srgbClr val="8A6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  FK</a:t>
            </a:r>
            <a:endParaRPr lang="en-US" sz="630" dirty="0"/>
          </a:p>
        </p:txBody>
      </p:sp>
      <p:sp>
        <p:nvSpPr>
          <p:cNvPr id="139" name="Shape 137"/>
          <p:cNvSpPr/>
          <p:nvPr/>
        </p:nvSpPr>
        <p:spPr>
          <a:xfrm>
            <a:off x="1975104" y="5001768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2002536" y="5010912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630" dirty="0"/>
          </a:p>
        </p:txBody>
      </p:sp>
      <p:sp>
        <p:nvSpPr>
          <p:cNvPr id="141" name="Shape 139"/>
          <p:cNvSpPr/>
          <p:nvPr/>
        </p:nvSpPr>
        <p:spPr>
          <a:xfrm>
            <a:off x="1975104" y="5193792"/>
            <a:ext cx="1435608" cy="9144"/>
          </a:xfrm>
          <a:prstGeom prst="rect">
            <a:avLst/>
          </a:prstGeom>
          <a:solidFill>
            <a:srgbClr val="EDE5D5"/>
          </a:solidFill>
          <a:ln w="12700">
            <a:solidFill>
              <a:srgbClr val="EDE5D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2002536" y="5202936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</a:t>
            </a:r>
            <a:endParaRPr lang="en-US" sz="630" dirty="0"/>
          </a:p>
        </p:txBody>
      </p:sp>
      <p:sp>
        <p:nvSpPr>
          <p:cNvPr id="143" name="Shape 141"/>
          <p:cNvSpPr/>
          <p:nvPr/>
        </p:nvSpPr>
        <p:spPr>
          <a:xfrm flipV="1">
            <a:off x="1764792" y="1344168"/>
            <a:ext cx="173736" cy="96012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1010412" y="2075688"/>
            <a:ext cx="9144" cy="9144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010412" y="2075688"/>
            <a:ext cx="9144" cy="713232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1010412" y="2788920"/>
            <a:ext cx="1682496" cy="9144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1764792" y="1440180"/>
            <a:ext cx="27432" cy="9144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792224" y="1440180"/>
            <a:ext cx="9144" cy="96012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1792224" y="1536192"/>
            <a:ext cx="3511296" cy="9144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764792" y="932688"/>
            <a:ext cx="3538728" cy="9144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764792" y="996696"/>
            <a:ext cx="6729984" cy="9144"/>
          </a:xfrm>
          <a:prstGeom prst="line">
            <a:avLst/>
          </a:prstGeom>
          <a:noFill/>
          <a:ln w="10160">
            <a:solidFill>
              <a:srgbClr val="D9BC8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8494776" y="932688"/>
            <a:ext cx="9144" cy="64008"/>
          </a:xfrm>
          <a:prstGeom prst="line">
            <a:avLst/>
          </a:prstGeom>
          <a:noFill/>
          <a:ln w="10160">
            <a:solidFill>
              <a:srgbClr val="D9BC8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494776" y="932688"/>
            <a:ext cx="9144" cy="9144"/>
          </a:xfrm>
          <a:prstGeom prst="line">
            <a:avLst/>
          </a:prstGeom>
          <a:noFill/>
          <a:ln w="10160">
            <a:solidFill>
              <a:srgbClr val="D9BC8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1010412" y="2075688"/>
            <a:ext cx="9144" cy="530352"/>
          </a:xfrm>
          <a:prstGeom prst="line">
            <a:avLst/>
          </a:prstGeom>
          <a:noFill/>
          <a:ln w="10160">
            <a:solidFill>
              <a:srgbClr val="D9BC8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1010412" y="2606040"/>
            <a:ext cx="5047488" cy="9144"/>
          </a:xfrm>
          <a:prstGeom prst="line">
            <a:avLst/>
          </a:prstGeom>
          <a:noFill/>
          <a:ln w="10160">
            <a:solidFill>
              <a:srgbClr val="D9BC8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6057900" y="2606040"/>
            <a:ext cx="9144" cy="182880"/>
          </a:xfrm>
          <a:prstGeom prst="line">
            <a:avLst/>
          </a:prstGeom>
          <a:noFill/>
          <a:ln w="10160">
            <a:solidFill>
              <a:srgbClr val="D9BC8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7740396" y="2514600"/>
            <a:ext cx="9144" cy="274320"/>
          </a:xfrm>
          <a:prstGeom prst="line">
            <a:avLst/>
          </a:prstGeom>
          <a:noFill/>
          <a:ln w="10160">
            <a:solidFill>
              <a:srgbClr val="D9BC8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740396" y="2514600"/>
            <a:ext cx="790956" cy="9144"/>
          </a:xfrm>
          <a:prstGeom prst="line">
            <a:avLst/>
          </a:prstGeom>
          <a:noFill/>
          <a:ln w="10160">
            <a:solidFill>
              <a:srgbClr val="D9BC8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8531352" y="1051560"/>
            <a:ext cx="9144" cy="1463040"/>
          </a:xfrm>
          <a:prstGeom prst="line">
            <a:avLst/>
          </a:prstGeom>
          <a:noFill/>
          <a:ln w="10160">
            <a:solidFill>
              <a:srgbClr val="D9BC8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H="1">
            <a:off x="1764792" y="1051560"/>
            <a:ext cx="6766560" cy="9144"/>
          </a:xfrm>
          <a:prstGeom prst="line">
            <a:avLst/>
          </a:prstGeom>
          <a:noFill/>
          <a:ln w="10160">
            <a:solidFill>
              <a:srgbClr val="D9BC8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1010412" y="2075688"/>
            <a:ext cx="9144" cy="1901952"/>
          </a:xfrm>
          <a:prstGeom prst="line">
            <a:avLst/>
          </a:prstGeom>
          <a:noFill/>
          <a:ln w="10160">
            <a:solidFill>
              <a:srgbClr val="D9BC8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1010412" y="3977640"/>
            <a:ext cx="1682496" cy="9144"/>
          </a:xfrm>
          <a:prstGeom prst="line">
            <a:avLst/>
          </a:prstGeom>
          <a:noFill/>
          <a:ln w="10160">
            <a:solidFill>
              <a:srgbClr val="D9BC8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692908" y="3977640"/>
            <a:ext cx="9144" cy="182880"/>
          </a:xfrm>
          <a:prstGeom prst="line">
            <a:avLst/>
          </a:prstGeom>
          <a:noFill/>
          <a:ln w="10160">
            <a:solidFill>
              <a:srgbClr val="D9BC8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3447288" y="1344168"/>
            <a:ext cx="173736" cy="96012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692908" y="1883664"/>
            <a:ext cx="9144" cy="905256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 flipH="1">
            <a:off x="1764792" y="1344168"/>
            <a:ext cx="173736" cy="2080260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692908" y="1883664"/>
            <a:ext cx="1682496" cy="905256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692908" y="1883664"/>
            <a:ext cx="9144" cy="2093976"/>
          </a:xfrm>
          <a:prstGeom prst="line">
            <a:avLst/>
          </a:prstGeom>
          <a:noFill/>
          <a:ln w="10160">
            <a:solidFill>
              <a:srgbClr val="D9BC8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H="1">
            <a:off x="1010412" y="3977640"/>
            <a:ext cx="1682496" cy="9144"/>
          </a:xfrm>
          <a:prstGeom prst="line">
            <a:avLst/>
          </a:prstGeom>
          <a:noFill/>
          <a:ln w="10160">
            <a:solidFill>
              <a:srgbClr val="D9BC8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10412" y="3977640"/>
            <a:ext cx="9144" cy="182880"/>
          </a:xfrm>
          <a:prstGeom prst="line">
            <a:avLst/>
          </a:prstGeom>
          <a:noFill/>
          <a:ln w="10160">
            <a:solidFill>
              <a:srgbClr val="D9BC8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5129784" y="1440180"/>
            <a:ext cx="173736" cy="96012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812280" y="1344168"/>
            <a:ext cx="173736" cy="192024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057900" y="2267712"/>
            <a:ext cx="9144" cy="521208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5129784" y="3328416"/>
            <a:ext cx="923544" cy="9144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053328" y="3328416"/>
            <a:ext cx="9144" cy="9144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6053328" y="3328416"/>
            <a:ext cx="932688" cy="9144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1764792" y="4796028"/>
            <a:ext cx="173736" cy="9144"/>
          </a:xfrm>
          <a:prstGeom prst="line">
            <a:avLst/>
          </a:prstGeom>
          <a:noFill/>
          <a:ln w="12700">
            <a:solidFill>
              <a:srgbClr val="D9BC8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56032" y="4901184"/>
            <a:ext cx="411480" cy="118872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713232" y="486460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entity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194560" y="4901184"/>
            <a:ext cx="411480" cy="118872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2651760" y="48646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entity</a:t>
            </a:r>
            <a:endParaRPr lang="en-US" sz="700" dirty="0"/>
          </a:p>
        </p:txBody>
      </p:sp>
      <p:sp>
        <p:nvSpPr>
          <p:cNvPr id="182" name="Shape 180"/>
          <p:cNvSpPr/>
          <p:nvPr/>
        </p:nvSpPr>
        <p:spPr>
          <a:xfrm>
            <a:off x="4297680" y="4960620"/>
            <a:ext cx="411480" cy="9144"/>
          </a:xfrm>
          <a:prstGeom prst="line">
            <a:avLst/>
          </a:prstGeom>
          <a:noFill/>
          <a:ln w="15240">
            <a:solidFill>
              <a:srgbClr val="D9BC8A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4754880" y="48646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700" dirty="0"/>
          </a:p>
        </p:txBody>
      </p:sp>
      <p:sp>
        <p:nvSpPr>
          <p:cNvPr id="184" name="Text 182"/>
          <p:cNvSpPr/>
          <p:nvPr/>
        </p:nvSpPr>
        <p:spPr>
          <a:xfrm>
            <a:off x="5852160" y="486460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D9B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= Primary Key  |  FK = Foreign Key (italic)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Highlights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005840"/>
            <a:ext cx="4160520" cy="91440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61872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2070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Collaboration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169164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(Socket.io) broadcasts ensure annotations and updates are instantly visible to all active users in a project.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11480" y="297180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2971800"/>
            <a:ext cx="4160520" cy="91440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227832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88720" y="31729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Cross-format Support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94360" y="365760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can be stored as raw text (content field) or as PDF files (pdfUrl), enabling a single viewer to handle both formats.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846320" y="100584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846320" y="1005840"/>
            <a:ext cx="4160520" cy="91440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26187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623560" y="12070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Fine-grained Permissions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5029200" y="169164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Per-member flags — canAnnotate, canViewOthersAnnotations, canViewAdminAnnotations — provide granular access control beyond role labels.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846320" y="2971800"/>
            <a:ext cx="41605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46320" y="2971800"/>
            <a:ext cx="4160520" cy="91440"/>
          </a:xfrm>
          <a:prstGeom prst="rect">
            <a:avLst/>
          </a:prstGeom>
          <a:solidFill>
            <a:srgbClr val="B8843F"/>
          </a:solidFill>
          <a:ln w="12700">
            <a:solidFill>
              <a:srgbClr val="B8843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227832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23560" y="31729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Relational Integrity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029200" y="365760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2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Prisma ORM enforce referential constraints with cascading deletes, ensuring no orphaned annotations or broken links.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8A60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7A5228"/>
          </a:solidFill>
          <a:ln w="12700">
            <a:solidFill>
              <a:srgbClr val="7A52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23960" y="0"/>
            <a:ext cx="320040" cy="5143500"/>
          </a:xfrm>
          <a:prstGeom prst="rect">
            <a:avLst/>
          </a:prstGeom>
          <a:solidFill>
            <a:srgbClr val="7A5228"/>
          </a:solidFill>
          <a:ln w="12700">
            <a:solidFill>
              <a:srgbClr val="7A52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5070348"/>
            <a:ext cx="8503920" cy="73152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731520"/>
            <a:ext cx="6949440" cy="3657600"/>
          </a:xfrm>
          <a:prstGeom prst="rect">
            <a:avLst/>
          </a:prstGeom>
          <a:solidFill>
            <a:srgbClr val="7A5228"/>
          </a:solidFill>
          <a:ln w="12700">
            <a:solidFill>
              <a:srgbClr val="7A522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960120"/>
            <a:ext cx="731520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8288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9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3200400" y="2560320"/>
            <a:ext cx="2743200" cy="36576"/>
          </a:xfrm>
          <a:prstGeom prst="rect">
            <a:avLst/>
          </a:prstGeom>
          <a:solidFill>
            <a:srgbClr val="D4A055"/>
          </a:solidFill>
          <a:ln w="12700">
            <a:solidFill>
              <a:srgbClr val="D4A05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371600" y="26974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9B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371600" y="3246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B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Literary Experience  ·  Platform Overview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Literary Experience – Platform Overview</dc:title>
  <dc:subject>PptxGenJS Presentation</dc:subject>
  <dc:creator>PptxGenJS</dc:creator>
  <cp:lastModifiedBy>PptxGenJS</cp:lastModifiedBy>
  <cp:revision>1</cp:revision>
  <dcterms:created xsi:type="dcterms:W3CDTF">2026-05-03T13:42:26Z</dcterms:created>
  <dcterms:modified xsi:type="dcterms:W3CDTF">2026-05-03T13:42:26Z</dcterms:modified>
</cp:coreProperties>
</file>